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x="18288000" cy="10287000"/>
  <p:notesSz cx="6858000" cy="9144000"/>
  <p:embeddedFontLst>
    <p:embeddedFont>
      <p:font typeface="Public Sans Bold" charset="1" panose="00000000000000000000"/>
      <p:regular r:id="rId24"/>
    </p:embeddedFont>
    <p:embeddedFont>
      <p:font typeface="Playfair Display" charset="1" panose="00000500000000000000"/>
      <p:regular r:id="rId25"/>
    </p:embeddedFont>
    <p:embeddedFont>
      <p:font typeface="Georgia Pro" charset="1" panose="02040502050405020303"/>
      <p:regular r:id="rId26"/>
    </p:embeddedFont>
    <p:embeddedFont>
      <p:font typeface="Playfair Display Bold" charset="1" panose="00000800000000000000"/>
      <p:regular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png" Type="http://schemas.openxmlformats.org/officeDocument/2006/relationships/image"/><Relationship Id="rId4" Target="../media/image9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png" Type="http://schemas.openxmlformats.org/officeDocument/2006/relationships/image"/><Relationship Id="rId4" Target="../media/image10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Relationship Id="rId3" Target="../media/image21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png" Type="http://schemas.openxmlformats.org/officeDocument/2006/relationships/image"/><Relationship Id="rId3" Target="../media/image24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493019" y="6083730"/>
            <a:ext cx="4976981" cy="3174570"/>
          </a:xfrm>
          <a:custGeom>
            <a:avLst/>
            <a:gdLst/>
            <a:ahLst/>
            <a:cxnLst/>
            <a:rect r="r" b="b" t="t" l="l"/>
            <a:pathLst>
              <a:path h="3174570" w="4976981">
                <a:moveTo>
                  <a:pt x="0" y="0"/>
                </a:moveTo>
                <a:lnTo>
                  <a:pt x="4976981" y="0"/>
                </a:lnTo>
                <a:lnTo>
                  <a:pt x="4976981" y="3174570"/>
                </a:lnTo>
                <a:lnTo>
                  <a:pt x="0" y="317457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72183" y="6254325"/>
            <a:ext cx="5622569" cy="2582463"/>
          </a:xfrm>
          <a:custGeom>
            <a:avLst/>
            <a:gdLst/>
            <a:ahLst/>
            <a:cxnLst/>
            <a:rect r="r" b="b" t="t" l="l"/>
            <a:pathLst>
              <a:path h="2582463" w="5622569">
                <a:moveTo>
                  <a:pt x="0" y="0"/>
                </a:moveTo>
                <a:lnTo>
                  <a:pt x="5622568" y="0"/>
                </a:lnTo>
                <a:lnTo>
                  <a:pt x="5622568" y="2582463"/>
                </a:lnTo>
                <a:lnTo>
                  <a:pt x="0" y="258246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471" r="0" b="-471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470000" y="6328589"/>
            <a:ext cx="7073948" cy="2433935"/>
          </a:xfrm>
          <a:custGeom>
            <a:avLst/>
            <a:gdLst/>
            <a:ahLst/>
            <a:cxnLst/>
            <a:rect r="r" b="b" t="t" l="l"/>
            <a:pathLst>
              <a:path h="2433935" w="7073948">
                <a:moveTo>
                  <a:pt x="0" y="0"/>
                </a:moveTo>
                <a:lnTo>
                  <a:pt x="7073948" y="0"/>
                </a:lnTo>
                <a:lnTo>
                  <a:pt x="7073948" y="2433935"/>
                </a:lnTo>
                <a:lnTo>
                  <a:pt x="0" y="243393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790419" y="1313271"/>
            <a:ext cx="1711243" cy="1711243"/>
          </a:xfrm>
          <a:custGeom>
            <a:avLst/>
            <a:gdLst/>
            <a:ahLst/>
            <a:cxnLst/>
            <a:rect r="r" b="b" t="t" l="l"/>
            <a:pathLst>
              <a:path h="1711243" w="1711243">
                <a:moveTo>
                  <a:pt x="0" y="0"/>
                </a:moveTo>
                <a:lnTo>
                  <a:pt x="1711243" y="0"/>
                </a:lnTo>
                <a:lnTo>
                  <a:pt x="1711243" y="1711243"/>
                </a:lnTo>
                <a:lnTo>
                  <a:pt x="0" y="171124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761049" y="4884224"/>
            <a:ext cx="16230600" cy="651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b="true" sz="3714" spc="843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PROJECT BASED LEARNING, COMPILER DESIGN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72183" y="731210"/>
            <a:ext cx="16408332" cy="31134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72"/>
              </a:lnSpc>
            </a:pPr>
            <a:r>
              <a:rPr lang="en-US" sz="8760" spc="43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Multi-Agent Hierarchical Reinforcement Learning for Compiler Optimization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61049" y="4065030"/>
            <a:ext cx="5894461" cy="589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2"/>
              </a:lnSpc>
            </a:pPr>
            <a:r>
              <a:rPr lang="en-US" sz="3261">
                <a:solidFill>
                  <a:srgbClr val="2B2C30"/>
                </a:solidFill>
                <a:latin typeface="Georgia Pro"/>
                <a:ea typeface="Georgia Pro"/>
                <a:cs typeface="Georgia Pro"/>
                <a:sym typeface="Georgia Pro"/>
              </a:rPr>
              <a:t>Tarun Nagarajan, 24CSB0A79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913045" y="1116192"/>
            <a:ext cx="5952714" cy="4027308"/>
          </a:xfrm>
          <a:custGeom>
            <a:avLst/>
            <a:gdLst/>
            <a:ahLst/>
            <a:cxnLst/>
            <a:rect r="r" b="b" t="t" l="l"/>
            <a:pathLst>
              <a:path h="4027308" w="5952714">
                <a:moveTo>
                  <a:pt x="0" y="0"/>
                </a:moveTo>
                <a:lnTo>
                  <a:pt x="5952713" y="0"/>
                </a:lnTo>
                <a:lnTo>
                  <a:pt x="5952713" y="4027308"/>
                </a:lnTo>
                <a:lnTo>
                  <a:pt x="0" y="40273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316687" y="5724201"/>
            <a:ext cx="5549071" cy="4230005"/>
          </a:xfrm>
          <a:custGeom>
            <a:avLst/>
            <a:gdLst/>
            <a:ahLst/>
            <a:cxnLst/>
            <a:rect r="r" b="b" t="t" l="l"/>
            <a:pathLst>
              <a:path h="4230005" w="5549071">
                <a:moveTo>
                  <a:pt x="0" y="0"/>
                </a:moveTo>
                <a:lnTo>
                  <a:pt x="5549071" y="0"/>
                </a:lnTo>
                <a:lnTo>
                  <a:pt x="5549071" y="4230005"/>
                </a:lnTo>
                <a:lnTo>
                  <a:pt x="0" y="423000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35535" y="600667"/>
            <a:ext cx="16408332" cy="10941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72"/>
              </a:lnSpc>
            </a:pPr>
            <a:r>
              <a:rPr lang="en-US" sz="8760" spc="43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Background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35535" y="2089563"/>
            <a:ext cx="6379492" cy="4207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99"/>
              </a:lnSpc>
            </a:pPr>
            <a:r>
              <a:rPr lang="en-US" sz="3406" spc="17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Phase-Ordering Crisis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35535" y="2730843"/>
            <a:ext cx="4631595" cy="24126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0"/>
              </a:lnSpc>
            </a:pPr>
            <a:r>
              <a:rPr lang="en-US" sz="2472" spc="12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Finding the optimal sequence of compiler transformation passes (e.g., inlining, loop </a:t>
            </a:r>
            <a:r>
              <a:rPr lang="en-US" sz="2472" spc="12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unrolling, vectorization) </a:t>
            </a:r>
            <a:r>
              <a:rPr lang="en-US" sz="2472" spc="12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is m</a:t>
            </a:r>
            <a:r>
              <a:rPr lang="en-US" sz="2472" spc="12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athematically N</a:t>
            </a:r>
            <a:r>
              <a:rPr lang="en-US" sz="2472" spc="12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P-Hard. </a:t>
            </a:r>
          </a:p>
          <a:p>
            <a:pPr algn="l">
              <a:lnSpc>
                <a:spcPts val="2720"/>
              </a:lnSpc>
            </a:pPr>
          </a:p>
          <a:p>
            <a:pPr algn="l">
              <a:lnSpc>
                <a:spcPts val="2720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6475417" y="2730843"/>
            <a:ext cx="4531886" cy="1716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4"/>
              </a:lnSpc>
            </a:pPr>
            <a:r>
              <a:rPr lang="en-US" sz="2419" spc="12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Passes are non-linear and antagonistic. A pass that helps one loop can cause catastrophic instruction cache thrashing in the next.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35535" y="4979750"/>
            <a:ext cx="6379492" cy="4227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99"/>
              </a:lnSpc>
            </a:pPr>
            <a:r>
              <a:rPr lang="en-US" sz="3406" spc="17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The Scaling Bottleneck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35535" y="5521422"/>
            <a:ext cx="4631595" cy="17268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0"/>
              </a:lnSpc>
            </a:pPr>
            <a:r>
              <a:rPr lang="en-US" sz="2472" spc="12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Standard Graph Neural Networks (GNNs) are only built for small kernels (50–100 nodes).</a:t>
            </a:r>
          </a:p>
          <a:p>
            <a:pPr algn="l">
              <a:lnSpc>
                <a:spcPts val="2720"/>
              </a:lnSpc>
            </a:pPr>
            <a:r>
              <a:rPr lang="en-US" sz="2472" spc="12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425563" y="5511897"/>
            <a:ext cx="4631595" cy="14476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93"/>
              </a:lnSpc>
            </a:pPr>
            <a:r>
              <a:rPr lang="en-US" sz="2472" spc="12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Processing whole-module industrial codebases like SQLite (131,000 nodes) creates an O(N</a:t>
            </a:r>
            <a:r>
              <a:rPr lang="en-US" sz="2472" spc="12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2</a:t>
            </a:r>
            <a:r>
              <a:rPr lang="en-US" sz="2472" spc="12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) memory explosion.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475417" y="4979750"/>
            <a:ext cx="6379492" cy="4227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99"/>
              </a:lnSpc>
            </a:pPr>
            <a:r>
              <a:rPr lang="en-US" sz="3406" spc="17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Memory Explosion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475417" y="2089563"/>
            <a:ext cx="6379492" cy="4227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99"/>
              </a:lnSpc>
            </a:pPr>
            <a:r>
              <a:rPr lang="en-US" sz="3406" spc="17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Catastrophic Instructions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39315" y="7400679"/>
            <a:ext cx="11573730" cy="22709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10"/>
              </a:lnSpc>
            </a:pPr>
          </a:p>
          <a:p>
            <a:pPr algn="l" marL="560758" indent="-280379" lvl="1">
              <a:lnSpc>
                <a:spcPts val="3610"/>
              </a:lnSpc>
              <a:buFont typeface="Arial"/>
              <a:buChar char="•"/>
            </a:pPr>
            <a:r>
              <a:rPr lang="en-US" sz="2597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Limited Computational Resources</a:t>
            </a:r>
          </a:p>
          <a:p>
            <a:pPr algn="l" marL="560758" indent="-280379" lvl="1">
              <a:lnSpc>
                <a:spcPts val="3610"/>
              </a:lnSpc>
              <a:buFont typeface="Arial"/>
              <a:buChar char="•"/>
            </a:pPr>
            <a:r>
              <a:rPr lang="en-US" sz="2597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Ability to Train an Agent with both Performance and Edge AI capabilities</a:t>
            </a:r>
          </a:p>
          <a:p>
            <a:pPr algn="l" marL="560758" indent="-280379" lvl="1">
              <a:lnSpc>
                <a:spcPts val="3610"/>
              </a:lnSpc>
              <a:buFont typeface="Arial"/>
              <a:buChar char="•"/>
            </a:pPr>
            <a:r>
              <a:rPr lang="en-US" sz="2597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Scaling to Industrial Level Code Benchmarks</a:t>
            </a:r>
          </a:p>
          <a:p>
            <a:pPr algn="l" marL="560758" indent="-280379" lvl="1">
              <a:lnSpc>
                <a:spcPts val="3610"/>
              </a:lnSpc>
              <a:buFont typeface="Arial"/>
              <a:buChar char="•"/>
            </a:pPr>
            <a:r>
              <a:rPr lang="en-US" sz="2597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Keeping all Computation Local to ensure Privacy First AI</a:t>
            </a:r>
          </a:p>
        </p:txBody>
      </p:sp>
      <p:sp>
        <p:nvSpPr>
          <p:cNvPr name="AutoShape 14" id="14"/>
          <p:cNvSpPr/>
          <p:nvPr/>
        </p:nvSpPr>
        <p:spPr>
          <a:xfrm>
            <a:off x="5846346" y="2148979"/>
            <a:ext cx="0" cy="4810615"/>
          </a:xfrm>
          <a:prstGeom prst="line">
            <a:avLst/>
          </a:prstGeom>
          <a:ln cap="flat" w="38100">
            <a:solidFill>
              <a:srgbClr val="000000"/>
            </a:solidFill>
            <a:prstDash val="sysDash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803597" y="610654"/>
            <a:ext cx="1084204" cy="1084204"/>
          </a:xfrm>
          <a:custGeom>
            <a:avLst/>
            <a:gdLst/>
            <a:ahLst/>
            <a:cxnLst/>
            <a:rect r="r" b="b" t="t" l="l"/>
            <a:pathLst>
              <a:path h="1084204" w="1084204">
                <a:moveTo>
                  <a:pt x="0" y="0"/>
                </a:moveTo>
                <a:lnTo>
                  <a:pt x="1084204" y="0"/>
                </a:lnTo>
                <a:lnTo>
                  <a:pt x="1084204" y="1084204"/>
                </a:lnTo>
                <a:lnTo>
                  <a:pt x="0" y="10842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185479" y="643716"/>
            <a:ext cx="1018081" cy="1018081"/>
          </a:xfrm>
          <a:custGeom>
            <a:avLst/>
            <a:gdLst/>
            <a:ahLst/>
            <a:cxnLst/>
            <a:rect r="r" b="b" t="t" l="l"/>
            <a:pathLst>
              <a:path h="1018081" w="1018081">
                <a:moveTo>
                  <a:pt x="0" y="0"/>
                </a:moveTo>
                <a:lnTo>
                  <a:pt x="1018082" y="0"/>
                </a:lnTo>
                <a:lnTo>
                  <a:pt x="1018082" y="1018081"/>
                </a:lnTo>
                <a:lnTo>
                  <a:pt x="0" y="101808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12991" y="1900762"/>
            <a:ext cx="16865417" cy="7357538"/>
          </a:xfrm>
          <a:custGeom>
            <a:avLst/>
            <a:gdLst/>
            <a:ahLst/>
            <a:cxnLst/>
            <a:rect r="r" b="b" t="t" l="l"/>
            <a:pathLst>
              <a:path h="7357538" w="16865417">
                <a:moveTo>
                  <a:pt x="0" y="0"/>
                </a:moveTo>
                <a:lnTo>
                  <a:pt x="16865417" y="0"/>
                </a:lnTo>
                <a:lnTo>
                  <a:pt x="16865417" y="7357538"/>
                </a:lnTo>
                <a:lnTo>
                  <a:pt x="0" y="735753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787935" y="600667"/>
            <a:ext cx="16408332" cy="10941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72"/>
              </a:lnSpc>
            </a:pPr>
            <a:r>
              <a:rPr lang="en-US" sz="8760" spc="43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Previous Work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803597" y="610654"/>
            <a:ext cx="1084204" cy="1084204"/>
          </a:xfrm>
          <a:custGeom>
            <a:avLst/>
            <a:gdLst/>
            <a:ahLst/>
            <a:cxnLst/>
            <a:rect r="r" b="b" t="t" l="l"/>
            <a:pathLst>
              <a:path h="1084204" w="1084204">
                <a:moveTo>
                  <a:pt x="0" y="0"/>
                </a:moveTo>
                <a:lnTo>
                  <a:pt x="1084204" y="0"/>
                </a:lnTo>
                <a:lnTo>
                  <a:pt x="1084204" y="1084204"/>
                </a:lnTo>
                <a:lnTo>
                  <a:pt x="0" y="10842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185479" y="643716"/>
            <a:ext cx="1018081" cy="1018081"/>
          </a:xfrm>
          <a:custGeom>
            <a:avLst/>
            <a:gdLst/>
            <a:ahLst/>
            <a:cxnLst/>
            <a:rect r="r" b="b" t="t" l="l"/>
            <a:pathLst>
              <a:path h="1018081" w="1018081">
                <a:moveTo>
                  <a:pt x="0" y="0"/>
                </a:moveTo>
                <a:lnTo>
                  <a:pt x="1018082" y="0"/>
                </a:lnTo>
                <a:lnTo>
                  <a:pt x="1018082" y="1018081"/>
                </a:lnTo>
                <a:lnTo>
                  <a:pt x="0" y="101808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28700" y="1809912"/>
            <a:ext cx="16506124" cy="7448388"/>
          </a:xfrm>
          <a:custGeom>
            <a:avLst/>
            <a:gdLst/>
            <a:ahLst/>
            <a:cxnLst/>
            <a:rect r="r" b="b" t="t" l="l"/>
            <a:pathLst>
              <a:path h="7448388" w="16506124">
                <a:moveTo>
                  <a:pt x="0" y="0"/>
                </a:moveTo>
                <a:lnTo>
                  <a:pt x="16506124" y="0"/>
                </a:lnTo>
                <a:lnTo>
                  <a:pt x="16506124" y="7448388"/>
                </a:lnTo>
                <a:lnTo>
                  <a:pt x="0" y="74483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850968" y="600667"/>
            <a:ext cx="16408332" cy="10941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72"/>
              </a:lnSpc>
            </a:pPr>
            <a:r>
              <a:rPr lang="en-US" sz="8760" spc="43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Previous Work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55793" y="2485710"/>
            <a:ext cx="8756645" cy="5823169"/>
          </a:xfrm>
          <a:custGeom>
            <a:avLst/>
            <a:gdLst/>
            <a:ahLst/>
            <a:cxnLst/>
            <a:rect r="r" b="b" t="t" l="l"/>
            <a:pathLst>
              <a:path h="5823169" w="8756645">
                <a:moveTo>
                  <a:pt x="0" y="0"/>
                </a:moveTo>
                <a:lnTo>
                  <a:pt x="8756645" y="0"/>
                </a:lnTo>
                <a:lnTo>
                  <a:pt x="8756645" y="5823169"/>
                </a:lnTo>
                <a:lnTo>
                  <a:pt x="0" y="582316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55793" y="551937"/>
            <a:ext cx="11781507" cy="15101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24"/>
              </a:lnSpc>
            </a:pPr>
            <a:r>
              <a:rPr lang="en-US" sz="6290" spc="31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Why LLMs are NOT the Solution.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321503" y="1045115"/>
            <a:ext cx="7175414" cy="7237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93"/>
              </a:lnSpc>
            </a:pPr>
            <a:r>
              <a:rPr lang="en-US" sz="2472" spc="12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LLMs can assist compiler optimization workflows, but can never replace them.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321503" y="2495235"/>
            <a:ext cx="7175414" cy="3618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93"/>
              </a:lnSpc>
            </a:pPr>
            <a:r>
              <a:rPr lang="en-US" sz="2472" spc="12" b="true">
                <a:solidFill>
                  <a:srgbClr val="2B2C30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Non-Deterministic Objective Optimization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321503" y="2866607"/>
            <a:ext cx="7175414" cy="10857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93"/>
              </a:lnSpc>
            </a:pPr>
            <a:r>
              <a:rPr lang="en-US" sz="2472" spc="12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Compiler pass interactions are non-linear; confident but incorrect suggestions can degrade performance or increase code size.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321503" y="4641667"/>
            <a:ext cx="7175414" cy="3618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93"/>
              </a:lnSpc>
            </a:pPr>
            <a:r>
              <a:rPr lang="en-US" sz="2472" spc="12" b="true">
                <a:solidFill>
                  <a:srgbClr val="2B2C30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Lack of Verifiable Action Consequence Modeling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321503" y="5013039"/>
            <a:ext cx="7175414" cy="10857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93"/>
              </a:lnSpc>
            </a:pPr>
            <a:r>
              <a:rPr lang="en-US" sz="2472" spc="12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Compiler optimization requires “if pass X then metric Y changes by Z%” reasoning, which needs a calibrated world model + measurement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321503" y="6784586"/>
            <a:ext cx="7175414" cy="3618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93"/>
              </a:lnSpc>
            </a:pPr>
            <a:r>
              <a:rPr lang="en-US" sz="2472" spc="12" b="true">
                <a:solidFill>
                  <a:srgbClr val="2B2C30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Hallucinations in Low-Level Decision Making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321503" y="7223132"/>
            <a:ext cx="7175414" cy="10857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93"/>
              </a:lnSpc>
            </a:pPr>
            <a:r>
              <a:rPr lang="en-US" sz="2472" spc="12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We need explicit optimization targets (runtime, size, energy) under constraints; LLM outputs are not reliably objective-aligned.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9099454"/>
            <a:ext cx="16800677" cy="7237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93"/>
              </a:lnSpc>
            </a:pPr>
            <a:r>
              <a:rPr lang="en-US" sz="2472" spc="12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Also, you’d have to load an LLM into memory to run inference, which means that you’d use the same computation for a ‘Hello World’ program, as you would for a normal code snippet. There’s no adaptive computation here. 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30990" y="2267406"/>
            <a:ext cx="8498049" cy="6435684"/>
          </a:xfrm>
          <a:custGeom>
            <a:avLst/>
            <a:gdLst/>
            <a:ahLst/>
            <a:cxnLst/>
            <a:rect r="r" b="b" t="t" l="l"/>
            <a:pathLst>
              <a:path h="6435684" w="8498049">
                <a:moveTo>
                  <a:pt x="0" y="0"/>
                </a:moveTo>
                <a:lnTo>
                  <a:pt x="8498049" y="0"/>
                </a:lnTo>
                <a:lnTo>
                  <a:pt x="8498049" y="6435684"/>
                </a:lnTo>
                <a:lnTo>
                  <a:pt x="0" y="64356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41206" y="972131"/>
            <a:ext cx="11781507" cy="785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24"/>
              </a:lnSpc>
            </a:pPr>
            <a:r>
              <a:rPr lang="en-US" sz="6290" spc="31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Optimization Objectives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321503" y="1038225"/>
            <a:ext cx="7175414" cy="14476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93"/>
              </a:lnSpc>
            </a:pPr>
            <a:r>
              <a:rPr lang="en-US" sz="2472" spc="12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The performance of an optimizing agent depends on the features you feed to the model during training. This also shapes different decision making strategies under varied conditions.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321503" y="3084258"/>
            <a:ext cx="7175414" cy="3618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93"/>
              </a:lnSpc>
            </a:pPr>
            <a:r>
              <a:rPr lang="en-US" sz="2472" spc="12" b="true">
                <a:solidFill>
                  <a:srgbClr val="2B2C30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Runtime Performance Objective (Speed)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321503" y="3561404"/>
            <a:ext cx="7175414" cy="7237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93"/>
              </a:lnSpc>
            </a:pPr>
            <a:r>
              <a:rPr lang="en-US" sz="2472" spc="12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Minimize end-to-end execution time versus strong compiler baselines (-O2, -O3).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321503" y="4761451"/>
            <a:ext cx="7175414" cy="7237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93"/>
              </a:lnSpc>
            </a:pPr>
            <a:r>
              <a:rPr lang="en-US" sz="2472" spc="12" b="true">
                <a:solidFill>
                  <a:srgbClr val="2B2C30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Code Size, Memory Footprint Objective (Embedded Efficiency)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321503" y="5594064"/>
            <a:ext cx="7175414" cy="10857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93"/>
              </a:lnSpc>
            </a:pPr>
            <a:r>
              <a:rPr lang="en-US" sz="2472" spc="12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Reduce text size and memory pressure for constrained targets without breaking functional correctness.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321503" y="7156061"/>
            <a:ext cx="7175414" cy="3618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93"/>
              </a:lnSpc>
            </a:pPr>
            <a:r>
              <a:rPr lang="en-US" sz="2472" spc="12" b="true">
                <a:solidFill>
                  <a:srgbClr val="2B2C30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Energy-Aware Objective (Efficiency per Task)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321503" y="7622683"/>
            <a:ext cx="7175414" cy="7237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93"/>
              </a:lnSpc>
            </a:pPr>
            <a:r>
              <a:rPr lang="en-US" sz="2472" spc="12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Minimize energy-per-execution using runtime-linked energy estimates/proxies.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30990" y="9041836"/>
            <a:ext cx="16800677" cy="10857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93"/>
              </a:lnSpc>
            </a:pPr>
            <a:r>
              <a:rPr lang="en-US" sz="2472" spc="12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The optimizer is not single-metric; it is trained to make target-aware tradeoffs across speed, size/memory, and energy, depending on deployment needs.</a:t>
            </a:r>
          </a:p>
          <a:p>
            <a:pPr algn="l">
              <a:lnSpc>
                <a:spcPts val="2893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19146" y="2544853"/>
            <a:ext cx="9141545" cy="5636662"/>
          </a:xfrm>
          <a:custGeom>
            <a:avLst/>
            <a:gdLst/>
            <a:ahLst/>
            <a:cxnLst/>
            <a:rect r="r" b="b" t="t" l="l"/>
            <a:pathLst>
              <a:path h="5636662" w="9141545">
                <a:moveTo>
                  <a:pt x="0" y="0"/>
                </a:moveTo>
                <a:lnTo>
                  <a:pt x="9141545" y="0"/>
                </a:lnTo>
                <a:lnTo>
                  <a:pt x="9141545" y="5636662"/>
                </a:lnTo>
                <a:lnTo>
                  <a:pt x="0" y="56366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18" r="0" b="-71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30990" y="493561"/>
            <a:ext cx="8590122" cy="15101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24"/>
              </a:lnSpc>
            </a:pPr>
            <a:r>
              <a:rPr lang="en-US" sz="6290" spc="31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Benchmark Suite and Data Coverage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083886" y="514974"/>
            <a:ext cx="7175414" cy="18096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93"/>
              </a:lnSpc>
            </a:pPr>
            <a:r>
              <a:rPr lang="en-US" sz="2472" spc="12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The data makes the model. Training on simple, template generated code snippets will result in over-fitting and model collapse. Competing in real-world benchmarks requires code that matches that standard.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321503" y="3057760"/>
            <a:ext cx="7175414" cy="3618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93"/>
              </a:lnSpc>
            </a:pPr>
            <a:r>
              <a:rPr lang="en-US" sz="2472" spc="12" b="true">
                <a:solidFill>
                  <a:srgbClr val="2B2C30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Multi-Source Benchmark Composition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321503" y="3638653"/>
            <a:ext cx="7175414" cy="10857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93"/>
              </a:lnSpc>
            </a:pPr>
            <a:r>
              <a:rPr lang="en-US" sz="2472" spc="12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The dataset combines synthetic kernels, PolyBench-style numerical workloads, MiBench/system workloads, and industrial-scale code.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321503" y="5153025"/>
            <a:ext cx="7175414" cy="10857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93"/>
              </a:lnSpc>
            </a:pPr>
            <a:r>
              <a:rPr lang="en-US" sz="2472" spc="12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Synthetic programs provide controlled structure variation (loops, branches, memory patterns, recursion), enabling broad pattern exposure.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321503" y="6667938"/>
            <a:ext cx="7175414" cy="10857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93"/>
              </a:lnSpc>
            </a:pPr>
            <a:r>
              <a:rPr lang="en-US" sz="2472" spc="12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Real-world modules (e.g., large compression/parser/database-style code) inject practical complexity and non-ideal IR patterns.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43661" y="8732204"/>
            <a:ext cx="16800677" cy="10857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93"/>
              </a:lnSpc>
            </a:pPr>
            <a:r>
              <a:rPr lang="en-US" sz="2472" spc="12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Evaluation subsets are kept representative across categories so reported gains are not biased by one easy stratum. Transition data records action, graph/state context, and metric deltas (instruction/size/structural/runtime-related signals).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75784" y="2122948"/>
            <a:ext cx="14936433" cy="7450999"/>
          </a:xfrm>
          <a:custGeom>
            <a:avLst/>
            <a:gdLst/>
            <a:ahLst/>
            <a:cxnLst/>
            <a:rect r="r" b="b" t="t" l="l"/>
            <a:pathLst>
              <a:path h="7450999" w="14936433">
                <a:moveTo>
                  <a:pt x="0" y="0"/>
                </a:moveTo>
                <a:lnTo>
                  <a:pt x="14936432" y="0"/>
                </a:lnTo>
                <a:lnTo>
                  <a:pt x="14936432" y="7450999"/>
                </a:lnTo>
                <a:lnTo>
                  <a:pt x="0" y="745099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1885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804029" y="721835"/>
            <a:ext cx="15483971" cy="785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24"/>
              </a:lnSpc>
            </a:pPr>
            <a:r>
              <a:rPr lang="en-US" sz="6290" spc="31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System Architecture and Workflow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41662" y="2560272"/>
            <a:ext cx="9498717" cy="7270801"/>
          </a:xfrm>
          <a:custGeom>
            <a:avLst/>
            <a:gdLst/>
            <a:ahLst/>
            <a:cxnLst/>
            <a:rect r="r" b="b" t="t" l="l"/>
            <a:pathLst>
              <a:path h="7270801" w="9498717">
                <a:moveTo>
                  <a:pt x="0" y="0"/>
                </a:moveTo>
                <a:lnTo>
                  <a:pt x="9498717" y="0"/>
                </a:lnTo>
                <a:lnTo>
                  <a:pt x="9498717" y="7270801"/>
                </a:lnTo>
                <a:lnTo>
                  <a:pt x="0" y="727080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63" t="-288" r="-263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30990" y="493561"/>
            <a:ext cx="8590122" cy="15101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24"/>
              </a:lnSpc>
            </a:pPr>
            <a:r>
              <a:rPr lang="en-US" sz="6290" spc="31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IR Representation and Foveation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321503" y="1459892"/>
            <a:ext cx="7175414" cy="18096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93"/>
              </a:lnSpc>
            </a:pPr>
            <a:r>
              <a:rPr lang="en-US" sz="2472" spc="12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We first condense instruction-level regions into block-level summaries for global reasoning, then re-expand and focus on selected local regions for precise decision making. This gives a global+local hybrid view.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321503" y="4460061"/>
            <a:ext cx="7175414" cy="18096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93"/>
              </a:lnSpc>
            </a:pPr>
            <a:r>
              <a:rPr lang="en-US" sz="2472" spc="12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Each function is converted into a graph where nodes encode instructions/basic blocks and edges encode control-flow/data dependencies. This preserves compiler-relevant structure better than flat token sequences.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321503" y="7817541"/>
            <a:ext cx="7175414" cy="18096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93"/>
              </a:lnSpc>
            </a:pPr>
            <a:r>
              <a:rPr lang="en-US" sz="2472" spc="12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Instead of uniformly processing the whole graph at full detail, we identify high-impact regions (hot/basic blocks, dependency-dense neighborhoods, unstable optimization zones) and allocate fine-grained compute there.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321503" y="6836569"/>
            <a:ext cx="7175414" cy="7237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93"/>
              </a:lnSpc>
            </a:pPr>
            <a:r>
              <a:rPr lang="en-US" sz="2472" spc="12" b="true">
                <a:solidFill>
                  <a:srgbClr val="2B2C30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Foveation = Selective High-Resolution Processing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321503" y="478920"/>
            <a:ext cx="7175414" cy="7237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93"/>
              </a:lnSpc>
            </a:pPr>
            <a:r>
              <a:rPr lang="en-US" sz="2472" spc="12" b="true">
                <a:solidFill>
                  <a:srgbClr val="2B2C30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Hierarchical Block Condensation (HBC) + Foveal Refinement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473903" y="3993439"/>
            <a:ext cx="7175414" cy="3618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93"/>
              </a:lnSpc>
            </a:pPr>
            <a:r>
              <a:rPr lang="en-US" sz="2472" spc="12" b="true">
                <a:solidFill>
                  <a:srgbClr val="2B2C30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IR as a Multi-Relational Graph (Foundation)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72284" y="2332946"/>
            <a:ext cx="11856752" cy="7242499"/>
          </a:xfrm>
          <a:custGeom>
            <a:avLst/>
            <a:gdLst/>
            <a:ahLst/>
            <a:cxnLst/>
            <a:rect r="r" b="b" t="t" l="l"/>
            <a:pathLst>
              <a:path h="7242499" w="11856752">
                <a:moveTo>
                  <a:pt x="0" y="0"/>
                </a:moveTo>
                <a:lnTo>
                  <a:pt x="11856752" y="0"/>
                </a:lnTo>
                <a:lnTo>
                  <a:pt x="11856752" y="7242499"/>
                </a:lnTo>
                <a:lnTo>
                  <a:pt x="0" y="724249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63592" y="592290"/>
            <a:ext cx="8590122" cy="15101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24"/>
              </a:lnSpc>
            </a:pPr>
            <a:r>
              <a:rPr lang="en-US" sz="6290" spc="31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World Model: Predictive Planning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2882243" y="1657453"/>
            <a:ext cx="4907272" cy="76008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93"/>
              </a:lnSpc>
            </a:pPr>
            <a:r>
              <a:rPr lang="en-US" sz="2472" spc="12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The world model acts as a fast surrogate for expensive compiler execution. Given the current foveated program state and a candidate optimization action, it predicts how key objective signals will change, such as runtime proxy, code size proxy, and structural quality indicators.</a:t>
            </a:r>
          </a:p>
          <a:p>
            <a:pPr algn="l">
              <a:lnSpc>
                <a:spcPts val="2893"/>
              </a:lnSpc>
            </a:pPr>
          </a:p>
          <a:p>
            <a:pPr algn="l">
              <a:lnSpc>
                <a:spcPts val="2893"/>
              </a:lnSpc>
            </a:pPr>
            <a:r>
              <a:rPr lang="en-US" sz="2472" spc="12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 To make those predictions reliable across very different program scales, a calibration stage adjusts the raw model outputs. This is important because the same pass can behave very differently on a tiny</a:t>
            </a:r>
          </a:p>
          <a:p>
            <a:pPr algn="l">
              <a:lnSpc>
                <a:spcPts val="2893"/>
              </a:lnSpc>
            </a:pPr>
            <a:r>
              <a:rPr lang="en-US" sz="2472" spc="12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 kernel versus a large, dependency-heavy function, and uncalibrated predictions can mislead planning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329036" y="1038225"/>
            <a:ext cx="7175414" cy="3618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93"/>
              </a:lnSpc>
            </a:pPr>
            <a:r>
              <a:rPr lang="en-US" sz="2472" spc="12" b="true">
                <a:solidFill>
                  <a:srgbClr val="2B2C30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Know the Outcome before Execution.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73350" y="2375686"/>
            <a:ext cx="9505403" cy="5535629"/>
          </a:xfrm>
          <a:custGeom>
            <a:avLst/>
            <a:gdLst/>
            <a:ahLst/>
            <a:cxnLst/>
            <a:rect r="r" b="b" t="t" l="l"/>
            <a:pathLst>
              <a:path h="5535629" w="9505403">
                <a:moveTo>
                  <a:pt x="0" y="0"/>
                </a:moveTo>
                <a:lnTo>
                  <a:pt x="9505402" y="0"/>
                </a:lnTo>
                <a:lnTo>
                  <a:pt x="9505402" y="5535628"/>
                </a:lnTo>
                <a:lnTo>
                  <a:pt x="0" y="553562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907521"/>
            <a:ext cx="8590122" cy="785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24"/>
              </a:lnSpc>
            </a:pPr>
            <a:r>
              <a:rPr lang="en-US" sz="6290" spc="31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Performance Agent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321503" y="1629635"/>
            <a:ext cx="7175414" cy="21715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93"/>
              </a:lnSpc>
            </a:pPr>
            <a:r>
              <a:rPr lang="en-US" sz="2472" spc="12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The performance agent is optimized for runtime improvement and is trained to push execution speed beyond standard compiler baselines. Its reward shaping strongly prioritizes cycle/runtime gains while discouraging unstable action sequences that create regressions.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321503" y="4793355"/>
            <a:ext cx="7175414" cy="25335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93"/>
              </a:lnSpc>
            </a:pPr>
            <a:r>
              <a:rPr lang="en-US" sz="2472" spc="12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It uses hierarchical control: a high-level manager sets strategic intent, and a lower-level worker selects or refines concrete pass choices. This decomposition helps long-horizon optimization because it separates “what to optimize now” from “which exact pass should be applied next.”</a:t>
            </a:r>
          </a:p>
          <a:p>
            <a:pPr algn="l">
              <a:lnSpc>
                <a:spcPts val="2893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196284" y="8506575"/>
            <a:ext cx="16649656" cy="10857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93"/>
              </a:lnSpc>
            </a:pPr>
            <a:r>
              <a:rPr lang="en-US" sz="2472" spc="12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Combined with world-model lookahead, the performance agent can focus on high-confidence, speed-oriented trajectories rather than random trial-and-error. The result is typically stronger throughput improvements with better consistency across benchmarks.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321503" y="7916128"/>
            <a:ext cx="7175414" cy="3618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93"/>
              </a:lnSpc>
            </a:pPr>
            <a:r>
              <a:rPr lang="en-US" sz="2472" spc="12" b="true">
                <a:solidFill>
                  <a:srgbClr val="2B2C30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Partner for the World Model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321503" y="1038225"/>
            <a:ext cx="7175414" cy="3618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93"/>
              </a:lnSpc>
            </a:pPr>
            <a:r>
              <a:rPr lang="en-US" sz="2472" spc="12" b="true">
                <a:solidFill>
                  <a:srgbClr val="2B2C30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Objectives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321503" y="4202908"/>
            <a:ext cx="7175414" cy="3618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93"/>
              </a:lnSpc>
            </a:pPr>
            <a:r>
              <a:rPr lang="en-US" sz="2472" spc="12" b="true">
                <a:solidFill>
                  <a:srgbClr val="2B2C30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Hierarchical Control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72943" y="2381008"/>
            <a:ext cx="8271057" cy="5711281"/>
          </a:xfrm>
          <a:custGeom>
            <a:avLst/>
            <a:gdLst/>
            <a:ahLst/>
            <a:cxnLst/>
            <a:rect r="r" b="b" t="t" l="l"/>
            <a:pathLst>
              <a:path h="5711281" w="8271057">
                <a:moveTo>
                  <a:pt x="0" y="0"/>
                </a:moveTo>
                <a:lnTo>
                  <a:pt x="8271057" y="0"/>
                </a:lnTo>
                <a:lnTo>
                  <a:pt x="8271057" y="5711281"/>
                </a:lnTo>
                <a:lnTo>
                  <a:pt x="0" y="571128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30990" y="545047"/>
            <a:ext cx="8590122" cy="15101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24"/>
              </a:lnSpc>
            </a:pPr>
            <a:r>
              <a:rPr lang="en-US" sz="6290" spc="31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Embedded Agent: Green AI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321503" y="1612211"/>
            <a:ext cx="7175414" cy="21715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93"/>
              </a:lnSpc>
            </a:pPr>
            <a:r>
              <a:rPr lang="en-US" sz="2472" spc="12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The embedded agent is designed for resource-constrained targets where binary size and energy matter as much as, or more than, raw speed. Its objective function emphasizes compactness and efficiency while controlling unacceptable runtime degradation.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321503" y="4860030"/>
            <a:ext cx="7175414" cy="21715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93"/>
              </a:lnSpc>
            </a:pPr>
            <a:r>
              <a:rPr lang="en-US" sz="2472" spc="12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Unlike a performance-first policy, this agent learns to avoid transformations that produce code bloat or energy-unfriendly behavior. It prefers optimization paths that preserve deployment feasibility for memory-limited and power-limited environments.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96284" y="8720189"/>
            <a:ext cx="16649656" cy="10857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93"/>
              </a:lnSpc>
            </a:pPr>
            <a:r>
              <a:rPr lang="en-US" sz="2472" spc="12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This objective specialization is the key value: instead of forcing one universal policy to fit all use cases, the framework provides a dedicated policy for embedded constraints. That makes optimization outcomes more predictable and practically useful for edge deployment.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321503" y="8101814"/>
            <a:ext cx="7175414" cy="3618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93"/>
              </a:lnSpc>
            </a:pPr>
            <a:r>
              <a:rPr lang="en-US" sz="2472" spc="12" b="true">
                <a:solidFill>
                  <a:srgbClr val="2B2C30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Specialized for Use Case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321503" y="1038225"/>
            <a:ext cx="7175414" cy="3618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93"/>
              </a:lnSpc>
            </a:pPr>
            <a:r>
              <a:rPr lang="en-US" sz="2472" spc="12" b="true">
                <a:solidFill>
                  <a:srgbClr val="2B2C30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Objectives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321503" y="4288633"/>
            <a:ext cx="7175414" cy="3618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93"/>
              </a:lnSpc>
            </a:pPr>
            <a:r>
              <a:rPr lang="en-US" sz="2472" spc="12" b="true">
                <a:solidFill>
                  <a:srgbClr val="2B2C30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Respecting Memory Sensitive Constraints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64873" y="2578792"/>
            <a:ext cx="16184441" cy="6679508"/>
          </a:xfrm>
          <a:custGeom>
            <a:avLst/>
            <a:gdLst/>
            <a:ahLst/>
            <a:cxnLst/>
            <a:rect r="r" b="b" t="t" l="l"/>
            <a:pathLst>
              <a:path h="6679508" w="16184441">
                <a:moveTo>
                  <a:pt x="0" y="0"/>
                </a:moveTo>
                <a:lnTo>
                  <a:pt x="16184440" y="0"/>
                </a:lnTo>
                <a:lnTo>
                  <a:pt x="16184440" y="6679508"/>
                </a:lnTo>
                <a:lnTo>
                  <a:pt x="0" y="66795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418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658122"/>
            <a:ext cx="8590122" cy="15101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24"/>
              </a:lnSpc>
            </a:pPr>
            <a:r>
              <a:rPr lang="en-US" sz="6290" spc="31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Performance Agent: Results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74685" y="2516075"/>
            <a:ext cx="9615464" cy="7074506"/>
          </a:xfrm>
          <a:custGeom>
            <a:avLst/>
            <a:gdLst/>
            <a:ahLst/>
            <a:cxnLst/>
            <a:rect r="r" b="b" t="t" l="l"/>
            <a:pathLst>
              <a:path h="7074506" w="9615464">
                <a:moveTo>
                  <a:pt x="0" y="0"/>
                </a:moveTo>
                <a:lnTo>
                  <a:pt x="9615464" y="0"/>
                </a:lnTo>
                <a:lnTo>
                  <a:pt x="9615464" y="7074506"/>
                </a:lnTo>
                <a:lnTo>
                  <a:pt x="0" y="707450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193770" y="2694609"/>
            <a:ext cx="8094230" cy="6563691"/>
          </a:xfrm>
          <a:custGeom>
            <a:avLst/>
            <a:gdLst/>
            <a:ahLst/>
            <a:cxnLst/>
            <a:rect r="r" b="b" t="t" l="l"/>
            <a:pathLst>
              <a:path h="6563691" w="8094230">
                <a:moveTo>
                  <a:pt x="0" y="0"/>
                </a:moveTo>
                <a:lnTo>
                  <a:pt x="8094230" y="0"/>
                </a:lnTo>
                <a:lnTo>
                  <a:pt x="8094230" y="6563691"/>
                </a:lnTo>
                <a:lnTo>
                  <a:pt x="0" y="656369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4923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658122"/>
            <a:ext cx="8590122" cy="15101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24"/>
              </a:lnSpc>
            </a:pPr>
            <a:r>
              <a:rPr lang="en-US" sz="6290" spc="31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Performance Agent: Results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851759" y="2491391"/>
            <a:ext cx="10375436" cy="7019500"/>
          </a:xfrm>
          <a:custGeom>
            <a:avLst/>
            <a:gdLst/>
            <a:ahLst/>
            <a:cxnLst/>
            <a:rect r="r" b="b" t="t" l="l"/>
            <a:pathLst>
              <a:path h="7019500" w="10375436">
                <a:moveTo>
                  <a:pt x="0" y="0"/>
                </a:moveTo>
                <a:lnTo>
                  <a:pt x="10375436" y="0"/>
                </a:lnTo>
                <a:lnTo>
                  <a:pt x="10375436" y="7019499"/>
                </a:lnTo>
                <a:lnTo>
                  <a:pt x="0" y="701949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181100" y="810522"/>
            <a:ext cx="8590122" cy="15101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24"/>
              </a:lnSpc>
            </a:pPr>
            <a:r>
              <a:rPr lang="en-US" sz="6290" spc="31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Embedded Agent: Results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901638" y="3532054"/>
            <a:ext cx="9026825" cy="6107097"/>
          </a:xfrm>
          <a:custGeom>
            <a:avLst/>
            <a:gdLst/>
            <a:ahLst/>
            <a:cxnLst/>
            <a:rect r="r" b="b" t="t" l="l"/>
            <a:pathLst>
              <a:path h="6107097" w="9026825">
                <a:moveTo>
                  <a:pt x="0" y="0"/>
                </a:moveTo>
                <a:lnTo>
                  <a:pt x="9026825" y="0"/>
                </a:lnTo>
                <a:lnTo>
                  <a:pt x="9026825" y="6107097"/>
                </a:lnTo>
                <a:lnTo>
                  <a:pt x="0" y="61070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3151203"/>
            <a:ext cx="8313582" cy="6487948"/>
          </a:xfrm>
          <a:custGeom>
            <a:avLst/>
            <a:gdLst/>
            <a:ahLst/>
            <a:cxnLst/>
            <a:rect r="r" b="b" t="t" l="l"/>
            <a:pathLst>
              <a:path h="6487948" w="8313582">
                <a:moveTo>
                  <a:pt x="0" y="0"/>
                </a:moveTo>
                <a:lnTo>
                  <a:pt x="8313582" y="0"/>
                </a:lnTo>
                <a:lnTo>
                  <a:pt x="8313582" y="6487948"/>
                </a:lnTo>
                <a:lnTo>
                  <a:pt x="0" y="648794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181100" y="810522"/>
            <a:ext cx="8590122" cy="15101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24"/>
              </a:lnSpc>
            </a:pPr>
            <a:r>
              <a:rPr lang="en-US" sz="6290" spc="31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Embedded Agent: Results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823012" y="3196272"/>
            <a:ext cx="11088326" cy="5143702"/>
          </a:xfrm>
          <a:custGeom>
            <a:avLst/>
            <a:gdLst/>
            <a:ahLst/>
            <a:cxnLst/>
            <a:rect r="r" b="b" t="t" l="l"/>
            <a:pathLst>
              <a:path h="5143702" w="11088326">
                <a:moveTo>
                  <a:pt x="0" y="0"/>
                </a:moveTo>
                <a:lnTo>
                  <a:pt x="11088326" y="0"/>
                </a:lnTo>
                <a:lnTo>
                  <a:pt x="11088326" y="5143701"/>
                </a:lnTo>
                <a:lnTo>
                  <a:pt x="0" y="514370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181100" y="810522"/>
            <a:ext cx="8590122" cy="15101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24"/>
              </a:lnSpc>
            </a:pPr>
            <a:r>
              <a:rPr lang="en-US" sz="6290" spc="31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Embedded Agent: Results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534028" y="2427215"/>
            <a:ext cx="8344828" cy="6330714"/>
          </a:xfrm>
          <a:custGeom>
            <a:avLst/>
            <a:gdLst/>
            <a:ahLst/>
            <a:cxnLst/>
            <a:rect r="r" b="b" t="t" l="l"/>
            <a:pathLst>
              <a:path h="6330714" w="8344828">
                <a:moveTo>
                  <a:pt x="0" y="0"/>
                </a:moveTo>
                <a:lnTo>
                  <a:pt x="8344828" y="0"/>
                </a:lnTo>
                <a:lnTo>
                  <a:pt x="8344828" y="6330715"/>
                </a:lnTo>
                <a:lnTo>
                  <a:pt x="0" y="633071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264748" y="917087"/>
            <a:ext cx="8590122" cy="15101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24"/>
              </a:lnSpc>
            </a:pPr>
            <a:r>
              <a:rPr lang="en-US" sz="6290" spc="31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Conclusion, Future Work.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264748" y="3508438"/>
            <a:ext cx="7175414" cy="50671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93"/>
              </a:lnSpc>
            </a:pPr>
            <a:r>
              <a:rPr lang="en-US" sz="2472" spc="12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The next step is to make the framework more adaptive and deployment-ready. I plan to improve cross-platform measurement fidelity (especially runtime/energy), expand benchmark diversity to include broader real-world workloads, and strengthen uncertainty calibration for better robustness on out-of-distribution programs. </a:t>
            </a:r>
          </a:p>
          <a:p>
            <a:pPr algn="l">
              <a:lnSpc>
                <a:spcPts val="2893"/>
              </a:lnSpc>
            </a:pPr>
          </a:p>
          <a:p>
            <a:pPr algn="l">
              <a:lnSpc>
                <a:spcPts val="2893"/>
              </a:lnSpc>
            </a:pPr>
            <a:r>
              <a:rPr lang="en-US" sz="2472" spc="12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Beyond that, I aim to add dynamic policy routing that automatically selects or blends optimization strategies per program family, moving toward a general-purpose learned compiler optimizer that is both high-performing and trustworthy in production settings.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DAHHR4h5y7M</dc:identifier>
  <dcterms:modified xsi:type="dcterms:W3CDTF">2011-08-01T06:04:30Z</dcterms:modified>
  <cp:revision>1</cp:revision>
  <dc:title>24CSB0A79 PBL Presentation</dc:title>
</cp:coreProperties>
</file>